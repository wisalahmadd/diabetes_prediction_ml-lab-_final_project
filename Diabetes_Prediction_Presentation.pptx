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A2C71F-F865-4A7E-8F2A-46033E4FA7BF}">
  <a:tblStyle styleId="{F5A2C71F-F865-4A7E-8F2A-46033E4FA7B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334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05840" y="822960"/>
            <a:ext cx="640080" cy="20116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252728" y="594360"/>
            <a:ext cx="201168" cy="64008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48640" y="1371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Diabetes Onset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21488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Prediction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2834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D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8D5DC"/>
                </a:solidFill>
                <a:latin typeface="Calibri"/>
                <a:ea typeface="Calibri"/>
                <a:cs typeface="Calibri"/>
                <a:sym typeface="Calibri"/>
              </a:rPr>
              <a:t>Using Machine Learning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347472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D8D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D8DE"/>
                </a:solidFill>
                <a:latin typeface="Calibri"/>
                <a:ea typeface="Calibri"/>
                <a:cs typeface="Calibri"/>
                <a:sym typeface="Calibri"/>
              </a:rPr>
              <a:t>Waseem Ahmad  &amp;  Wisal Ahmad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D8D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D8DE"/>
                </a:solidFill>
                <a:latin typeface="Calibri"/>
                <a:ea typeface="Calibri"/>
                <a:cs typeface="Calibri"/>
                <a:sym typeface="Calibri"/>
              </a:rPr>
              <a:t>BSCS 8th Semester  |  Machine Learning Lab  |  Instructor: Saim Sanan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20040" y="4572000"/>
            <a:ext cx="850392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334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3349"/>
                </a:solidFill>
                <a:latin typeface="Calibri"/>
                <a:ea typeface="Calibri"/>
                <a:cs typeface="Calibri"/>
                <a:sym typeface="Calibri"/>
              </a:rPr>
              <a:t>Pima Indians Diabetes Database — UCI / Kaggle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349"/>
          </a:solidFill>
          <a:ln cap="flat" cmpd="sng" w="12700">
            <a:solidFill>
              <a:srgbClr val="0D33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Presentation Agenda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5760" y="914400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65760" y="914400"/>
            <a:ext cx="502920" cy="8046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65760" y="914400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960120" y="969264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60120" y="1316736"/>
            <a:ext cx="3520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Why early diabetes detection matters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65760" y="1874520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65760" y="1874520"/>
            <a:ext cx="502920" cy="8046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65760" y="1874520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960120" y="1929384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60120" y="2276856"/>
            <a:ext cx="3520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768 patients, 8 features, Pima Indians DB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65760" y="2834640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65760" y="2834640"/>
            <a:ext cx="502920" cy="8046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365760" y="2834640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60120" y="2889504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60120" y="3236976"/>
            <a:ext cx="3520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Handling invalid zeros, cleaning, scaling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65760" y="3794760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65760" y="3794760"/>
            <a:ext cx="502920" cy="8046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65760" y="3794760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960120" y="3849624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Exploratory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60120" y="4197096"/>
            <a:ext cx="3520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Distributions, correlations, visualizations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846320" y="914400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846320" y="914400"/>
            <a:ext cx="502920" cy="8046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846320" y="914400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440680" y="969264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ML Models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440680" y="1316736"/>
            <a:ext cx="3520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Logistic Regression vs Random Forest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846320" y="1874520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846320" y="1874520"/>
            <a:ext cx="502920" cy="8046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846320" y="1874520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440680" y="1929384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Results &amp; Comparison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440680" y="2276856"/>
            <a:ext cx="3520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Accuracy, ROC-AUC, Confusion Matrix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846320" y="2834640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4846320" y="2834640"/>
            <a:ext cx="502920" cy="8046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4846320" y="2834640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440680" y="2889504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440680" y="3236976"/>
            <a:ext cx="3520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Key findings and future 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349"/>
          </a:solidFill>
          <a:ln cap="flat" cmpd="sng" w="12700">
            <a:solidFill>
              <a:srgbClr val="0D33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65760" y="868680"/>
            <a:ext cx="2560320" cy="1371600"/>
          </a:xfrm>
          <a:prstGeom prst="rect">
            <a:avLst/>
          </a:prstGeom>
          <a:solidFill>
            <a:srgbClr val="0D3349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65760" y="91440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537M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65760" y="166420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5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5DC"/>
                </a:solidFill>
                <a:latin typeface="Calibri"/>
                <a:ea typeface="Calibri"/>
                <a:cs typeface="Calibri"/>
                <a:sym typeface="Calibri"/>
              </a:rPr>
              <a:t>Adults with diabetes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5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5DC"/>
                </a:solidFill>
                <a:latin typeface="Calibri"/>
                <a:ea typeface="Calibri"/>
                <a:cs typeface="Calibri"/>
                <a:sym typeface="Calibri"/>
              </a:rPr>
              <a:t>worldwide (2021)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200400" y="868680"/>
            <a:ext cx="2560320" cy="1371600"/>
          </a:xfrm>
          <a:prstGeom prst="rect">
            <a:avLst/>
          </a:prstGeom>
          <a:solidFill>
            <a:srgbClr val="0D3349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3200400" y="91440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50%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200400" y="166420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5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5DC"/>
                </a:solidFill>
                <a:latin typeface="Calibri"/>
                <a:ea typeface="Calibri"/>
                <a:cs typeface="Calibri"/>
                <a:sym typeface="Calibri"/>
              </a:rPr>
              <a:t>Cases go undiagnosed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5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5DC"/>
                </a:solidFill>
                <a:latin typeface="Calibri"/>
                <a:ea typeface="Calibri"/>
                <a:cs typeface="Calibri"/>
                <a:sym typeface="Calibri"/>
              </a:rPr>
              <a:t>until complications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035040" y="868680"/>
            <a:ext cx="2560320" cy="1371600"/>
          </a:xfrm>
          <a:prstGeom prst="rect">
            <a:avLst/>
          </a:prstGeom>
          <a:solidFill>
            <a:srgbClr val="0D3349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035040" y="91440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80%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035040" y="166420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5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5DC"/>
                </a:solidFill>
                <a:latin typeface="Calibri"/>
                <a:ea typeface="Calibri"/>
                <a:cs typeface="Calibri"/>
                <a:sym typeface="Calibri"/>
              </a:rPr>
              <a:t>Cases preventable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5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5DC"/>
                </a:solidFill>
                <a:latin typeface="Calibri"/>
                <a:ea typeface="Calibri"/>
                <a:cs typeface="Calibri"/>
                <a:sym typeface="Calibri"/>
              </a:rPr>
              <a:t>with early detection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65760" y="24231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65760" y="269748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Diabetes is one of the world's fastest-growing chronic diseases. Traditional diagnosis requires laboratory tests that are costly and time-consuming. A machine learning model trained on patient diagnostic data can provide rapid, low-cost risk screening — enabling earlier intervention and better health outcomes.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65760" y="3611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Our Goal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1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Predict diabetes onset (binary: Yes / No) from diagnostic measurements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1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Compare Logistic Regression vs Random Forest for this classification task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1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Identify the most significant medical features driving diabetes risk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349"/>
          </a:solidFill>
          <a:ln cap="flat" cmpd="sng" w="12700">
            <a:solidFill>
              <a:srgbClr val="0D33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Dataset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20040" y="804672"/>
            <a:ext cx="1920240" cy="868680"/>
          </a:xfrm>
          <a:prstGeom prst="rect">
            <a:avLst/>
          </a:prstGeom>
          <a:solidFill>
            <a:srgbClr val="028090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320040" y="804672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768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20040" y="1316736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E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EEF2"/>
                </a:solidFill>
                <a:latin typeface="Calibri"/>
                <a:ea typeface="Calibri"/>
                <a:cs typeface="Calibri"/>
                <a:sym typeface="Calibri"/>
              </a:rPr>
              <a:t>Patient Records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2423160" y="804672"/>
            <a:ext cx="1920240" cy="868680"/>
          </a:xfrm>
          <a:prstGeom prst="rect">
            <a:avLst/>
          </a:prstGeom>
          <a:solidFill>
            <a:srgbClr val="028090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2423160" y="804672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423160" y="1316736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E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EEF2"/>
                </a:solidFill>
                <a:latin typeface="Calibri"/>
                <a:ea typeface="Calibri"/>
                <a:cs typeface="Calibri"/>
                <a:sym typeface="Calibri"/>
              </a:rPr>
              <a:t>Input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526280" y="804672"/>
            <a:ext cx="1920240" cy="868680"/>
          </a:xfrm>
          <a:prstGeom prst="rect">
            <a:avLst/>
          </a:prstGeom>
          <a:solidFill>
            <a:srgbClr val="028090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526280" y="804672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526280" y="1316736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E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EEF2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629400" y="804672"/>
            <a:ext cx="1920240" cy="868680"/>
          </a:xfrm>
          <a:prstGeom prst="rect">
            <a:avLst/>
          </a:prstGeom>
          <a:solidFill>
            <a:srgbClr val="028090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6629400" y="804672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629400" y="1316736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E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EEF2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6" name="Google Shape;106;p6"/>
          <p:cNvGraphicFramePr/>
          <p:nvPr/>
        </p:nvGraphicFramePr>
        <p:xfrm>
          <a:off x="320040" y="17922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{F5A2C71F-F865-4A7E-8F2A-46033E4FA7BF}</a:tableStyleId>
              </a:tblPr>
              <a:tblGrid>
                <a:gridCol w="2011675"/>
                <a:gridCol w="1005850"/>
                <a:gridCol w="5486400"/>
              </a:tblGrid>
              <a:tr h="31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Feature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33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Type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33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3349"/>
                    </a:solidFill>
                  </a:tcPr>
                </a:tc>
              </a:tr>
              <a:tr h="31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28090"/>
                          </a:solidFill>
                        </a:rPr>
                        <a:t>Pregnancies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Numeric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Number of times pregnant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28090"/>
                          </a:solidFill>
                        </a:rPr>
                        <a:t>Glucose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Numeric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Plasma glucose concentration (2-hr test)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</a:tr>
              <a:tr h="31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28090"/>
                          </a:solidFill>
                        </a:rPr>
                        <a:t>BloodPressure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Numeric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Diastolic blood pressure (mm Hg)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28090"/>
                          </a:solidFill>
                        </a:rPr>
                        <a:t>SkinThickness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Numeric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Triceps skin fold thickness (mm)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</a:tr>
              <a:tr h="31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28090"/>
                          </a:solidFill>
                        </a:rPr>
                        <a:t>Insulin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Numeric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2-hour serum insulin (mu U/ml)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28090"/>
                          </a:solidFill>
                        </a:rPr>
                        <a:t>BMI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Numeric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Body mass index (kg/m²)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</a:tr>
              <a:tr h="31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28090"/>
                          </a:solidFill>
                        </a:rPr>
                        <a:t>DiabetesPedigreeFunction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Numeric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Family history likelihood score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28090"/>
                          </a:solidFill>
                        </a:rPr>
                        <a:t>Age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Numeric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Age of the patient in years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</a:tr>
              <a:tr h="31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28090"/>
                          </a:solidFill>
                        </a:rPr>
                        <a:t>Outcome ★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Binary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E3B"/>
                          </a:solidFill>
                        </a:rPr>
                        <a:t>Target: 1 = Diabetic, 0 = Non-Diabetic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349"/>
          </a:solidFill>
          <a:ln cap="flat" cmpd="sng" w="12700">
            <a:solidFill>
              <a:srgbClr val="0D33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 Preprocessing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274320" y="822960"/>
            <a:ext cx="2651760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274320" y="822960"/>
            <a:ext cx="265176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274320" y="82296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384048" y="126187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Detect Invalid Zeros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84048" y="1664208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columns contain biologically impossible zero values: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Glucose, BloodPressure, SkinThickness, Insulin, BMI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3200400" y="822960"/>
            <a:ext cx="2651760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3200400" y="822960"/>
            <a:ext cx="2651760" cy="38404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3200400" y="82296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310128" y="126187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Replace with Median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3310128" y="1664208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Zero values replaced with column median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(Median preferred — robust to outliers)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126480" y="822960"/>
            <a:ext cx="2651760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126480" y="822960"/>
            <a:ext cx="265176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6126480" y="82296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236208" y="126187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Check Duplicates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236208" y="1664208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Scanned 768 rows for duplicate records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Result: 0 duplicates found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554480" y="2971800"/>
            <a:ext cx="2651760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1554480" y="2971800"/>
            <a:ext cx="2651760" cy="38404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1554480" y="297180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664208" y="341071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Train-Test 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664208" y="3813048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80% training (614 samples)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20% testing (154 samples) — stratified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480560" y="2971800"/>
            <a:ext cx="2651760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480560" y="2971800"/>
            <a:ext cx="265176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480560" y="297180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590288" y="341071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Feature Scaling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590288" y="3813048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StandardScaler: mean=0, std=1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Fitted ONLY on training data (no data leakage)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⚠️  Invalid Zeros Found: Glucose(5) · BloodPressure(35) · SkinThickness(227) · Insulin(374) · BMI(11)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349"/>
          </a:solidFill>
          <a:ln cap="flat" cmpd="sng" w="12700">
            <a:solidFill>
              <a:srgbClr val="0D33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Exploratory Data Analysis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822960"/>
            <a:ext cx="402336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822960"/>
            <a:ext cx="429768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/>
          <p:nvPr/>
        </p:nvSpPr>
        <p:spPr>
          <a:xfrm>
            <a:off x="320040" y="3703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Key EDA Findings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20040" y="4041648"/>
            <a:ext cx="8503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Glucose is the strongest predictor of diabetes onset (r = 0.47)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BMI and Age are the next most important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Non-Diabetic class (500) outnumbers Diabetic class (268) — class imbalance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Insulin &amp; SkinThickness had the most invalid zero values requiring cleanup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349"/>
          </a:solidFill>
          <a:ln cap="flat" cmpd="sng" w="12700">
            <a:solidFill>
              <a:srgbClr val="0D33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Machine Learning Models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320040" y="822960"/>
            <a:ext cx="416052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320040" y="822960"/>
            <a:ext cx="4160520" cy="47548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320040" y="822960"/>
            <a:ext cx="4160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57200" y="1371600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Logistic Regression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57200" y="1874520"/>
            <a:ext cx="38404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How it works:</a:t>
            </a:r>
            <a:br>
              <a:rPr b="1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Models probability using the sigmoid function. If P(diabetes) &gt; 0.5 → Diabetic, else Non-Diabetic.</a:t>
            </a:r>
            <a:b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Hyperparameters:</a:t>
            </a:r>
            <a:br>
              <a:rPr b="1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max_iter = 1000</a:t>
            </a:r>
            <a:b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random_state = 42</a:t>
            </a:r>
            <a:b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Key Advantages:</a:t>
            </a:r>
            <a:br>
              <a:rPr b="1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Simple, fast baseline 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Interpretable feature coefficients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Works well on linearly separable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663440" y="822960"/>
            <a:ext cx="416052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4663440" y="822960"/>
            <a:ext cx="4160520" cy="47548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4663440" y="822960"/>
            <a:ext cx="4160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800600" y="1371600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Random Forest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800600" y="1874520"/>
            <a:ext cx="38404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How it works:</a:t>
            </a:r>
            <a:br>
              <a:rPr b="1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Builds 100 decision trees on random data subsets, then takes a majority vote for the final prediction.</a:t>
            </a:r>
            <a:b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Hyperparameters:</a:t>
            </a:r>
            <a:br>
              <a:rPr b="1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n_estimators = 100</a:t>
            </a:r>
            <a:b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max_depth = 10</a:t>
            </a:r>
            <a:b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random_state = 42</a:t>
            </a:r>
            <a:b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Key Advantages:</a:t>
            </a:r>
            <a:br>
              <a:rPr b="1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Handles non-linear patterns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Robust to outliers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Provides feature importance scores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349"/>
          </a:solidFill>
          <a:ln cap="flat" cmpd="sng" w="12700">
            <a:solidFill>
              <a:srgbClr val="0D33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Results &amp; Model Comparison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822960"/>
            <a:ext cx="4114800" cy="2560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822960"/>
            <a:ext cx="4114800" cy="25603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7" name="Google Shape;177;p10"/>
          <p:cNvGraphicFramePr/>
          <p:nvPr/>
        </p:nvGraphicFramePr>
        <p:xfrm>
          <a:off x="320040" y="3520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{F5A2C71F-F865-4A7E-8F2A-46033E4FA7BF}</a:tableStyleId>
              </a:tblPr>
              <a:tblGrid>
                <a:gridCol w="2834650"/>
                <a:gridCol w="2834650"/>
                <a:gridCol w="2834650"/>
              </a:tblGrid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33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Logistic Regression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Random Forest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E3B"/>
                          </a:solidFill>
                        </a:rPr>
                        <a:t>Accuracy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28090"/>
                          </a:solidFill>
                        </a:rPr>
                        <a:t>~70.78%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2C39A"/>
                          </a:solidFill>
                        </a:rPr>
                        <a:t>~72.73%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E3B"/>
                          </a:solidFill>
                        </a:rPr>
                        <a:t>Precision (Diabetic)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28090"/>
                          </a:solidFill>
                        </a:rPr>
                        <a:t>~74%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2C39A"/>
                          </a:solidFill>
                        </a:rPr>
                        <a:t>~77%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E3B"/>
                          </a:solidFill>
                        </a:rPr>
                        <a:t>Recall (Diabetic)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28090"/>
                          </a:solidFill>
                        </a:rPr>
                        <a:t>~62%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2C39A"/>
                          </a:solidFill>
                        </a:rPr>
                        <a:t>~67%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E3B"/>
                          </a:solidFill>
                        </a:rPr>
                        <a:t>F1-Score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28090"/>
                          </a:solidFill>
                        </a:rPr>
                        <a:t>~68%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2C39A"/>
                          </a:solidFill>
                        </a:rPr>
                        <a:t>~72%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6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E3B"/>
                          </a:solidFill>
                        </a:rPr>
                        <a:t>ROC-AUC Score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28090"/>
                          </a:solidFill>
                        </a:rPr>
                        <a:t>~0.84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2C39A"/>
                          </a:solidFill>
                        </a:rPr>
                        <a:t>~0.87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349"/>
          </a:solidFill>
          <a:ln cap="flat" cmpd="sng" w="12700">
            <a:solidFill>
              <a:srgbClr val="0D33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Feature Importance &amp; Confusion Matrix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822960"/>
            <a:ext cx="475488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1"/>
          <p:cNvSpPr/>
          <p:nvPr/>
        </p:nvSpPr>
        <p:spPr>
          <a:xfrm>
            <a:off x="5212080" y="8229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Confusion Matrix — Random Forest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5212080" y="1188720"/>
            <a:ext cx="1737360" cy="1280160"/>
          </a:xfrm>
          <a:prstGeom prst="rect">
            <a:avLst/>
          </a:prstGeom>
          <a:solidFill>
            <a:srgbClr val="02809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5212080" y="1188720"/>
            <a:ext cx="1737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TN: 88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7040880" y="1188720"/>
            <a:ext cx="1737360" cy="1280160"/>
          </a:xfrm>
          <a:prstGeom prst="rect">
            <a:avLst/>
          </a:prstGeom>
          <a:solidFill>
            <a:srgbClr val="6B95A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7040880" y="1188720"/>
            <a:ext cx="1737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FP: 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5212080" y="2560320"/>
            <a:ext cx="1737360" cy="1280160"/>
          </a:xfrm>
          <a:prstGeom prst="rect">
            <a:avLst/>
          </a:prstGeom>
          <a:solidFill>
            <a:srgbClr val="6B95A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5212080" y="2560320"/>
            <a:ext cx="1737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FN: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7040880" y="2560320"/>
            <a:ext cx="1737360" cy="1280160"/>
          </a:xfrm>
          <a:prstGeom prst="rect">
            <a:avLst/>
          </a:prstGeom>
          <a:solidFill>
            <a:srgbClr val="02C39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7040880" y="2560320"/>
            <a:ext cx="1737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TP: 37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212080" y="402336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Predicted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5212080" y="422452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Non-Diabetic      Diabetic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 rot="-5400000">
            <a:off x="4937760" y="1554480"/>
            <a:ext cx="8229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5212080" y="111556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Non-Diabetic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6995160" y="111556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Diabetic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3349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Key Findings &amp; Takeaways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548640" y="1325880"/>
            <a:ext cx="8138160" cy="621792"/>
          </a:xfrm>
          <a:prstGeom prst="rect">
            <a:avLst/>
          </a:prstGeom>
          <a:solidFill>
            <a:srgbClr val="122838"/>
          </a:solidFill>
          <a:ln cap="flat" cmpd="sng" w="12700">
            <a:solidFill>
              <a:srgbClr val="1E3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685800" y="13716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  Best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2560320" y="1371600"/>
            <a:ext cx="5943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D5DC"/>
                </a:solidFill>
                <a:latin typeface="Calibri"/>
                <a:ea typeface="Calibri"/>
                <a:cs typeface="Calibri"/>
                <a:sym typeface="Calibri"/>
              </a:rPr>
              <a:t>Random Forest outperformed Logistic Regression (72.73% vs 70.78% accuracy)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548640" y="2057400"/>
            <a:ext cx="8138160" cy="621792"/>
          </a:xfrm>
          <a:prstGeom prst="rect">
            <a:avLst/>
          </a:prstGeom>
          <a:solidFill>
            <a:srgbClr val="122838"/>
          </a:solidFill>
          <a:ln cap="flat" cmpd="sng" w="12700">
            <a:solidFill>
              <a:srgbClr val="1E3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685800" y="210312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Top Feature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2560320" y="2103120"/>
            <a:ext cx="5943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D5DC"/>
                </a:solidFill>
                <a:latin typeface="Calibri"/>
                <a:ea typeface="Calibri"/>
                <a:cs typeface="Calibri"/>
                <a:sym typeface="Calibri"/>
              </a:rPr>
              <a:t>Glucose concentration is the strongest predictor of diabetes onset (importance: 0.27)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548640" y="2788920"/>
            <a:ext cx="8138160" cy="621792"/>
          </a:xfrm>
          <a:prstGeom prst="rect">
            <a:avLst/>
          </a:prstGeom>
          <a:solidFill>
            <a:srgbClr val="122838"/>
          </a:solidFill>
          <a:ln cap="flat" cmpd="sng" w="12700">
            <a:solidFill>
              <a:srgbClr val="1E3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685800" y="283464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Data Quality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2560320" y="2834640"/>
            <a:ext cx="5943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D5DC"/>
                </a:solidFill>
                <a:latin typeface="Calibri"/>
                <a:ea typeface="Calibri"/>
                <a:cs typeface="Calibri"/>
                <a:sym typeface="Calibri"/>
              </a:rPr>
              <a:t>374 invalid zero values in Insulin required careful median imputation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548640" y="3520440"/>
            <a:ext cx="8138160" cy="621792"/>
          </a:xfrm>
          <a:prstGeom prst="rect">
            <a:avLst/>
          </a:prstGeom>
          <a:solidFill>
            <a:srgbClr val="122838"/>
          </a:solidFill>
          <a:ln cap="flat" cmpd="sng" w="12700">
            <a:solidFill>
              <a:srgbClr val="1E3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685800" y="35661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Class Balance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2560320" y="3566160"/>
            <a:ext cx="5943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D5DC"/>
                </a:solidFill>
                <a:latin typeface="Calibri"/>
                <a:ea typeface="Calibri"/>
                <a:cs typeface="Calibri"/>
                <a:sym typeface="Calibri"/>
              </a:rPr>
              <a:t>65% Non-Diabetic vs 35% Diabetic — manageable imbalance with stratified split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548640" y="4251960"/>
            <a:ext cx="8138160" cy="621792"/>
          </a:xfrm>
          <a:prstGeom prst="rect">
            <a:avLst/>
          </a:prstGeom>
          <a:solidFill>
            <a:srgbClr val="122838"/>
          </a:solidFill>
          <a:ln cap="flat" cmpd="sng" w="12700">
            <a:solidFill>
              <a:srgbClr val="1E3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685800" y="42976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AUC 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2560320" y="4297680"/>
            <a:ext cx="5943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D5DC"/>
                </a:solidFill>
                <a:latin typeface="Calibri"/>
                <a:ea typeface="Calibri"/>
                <a:cs typeface="Calibri"/>
                <a:sym typeface="Calibri"/>
              </a:rPr>
              <a:t>Random Forest ROC-AUC of 0.87 — well above random guessing threshold (0.5)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48640" y="477318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8A97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8A97"/>
                </a:solidFill>
                <a:latin typeface="Calibri"/>
                <a:ea typeface="Calibri"/>
                <a:cs typeface="Calibri"/>
                <a:sym typeface="Calibri"/>
              </a:rPr>
              <a:t>Future Work:  Deploy as a web app  ·  Try XGBoost / SVM  ·  Apply SMOTE for class imbalance  ·  Add cross-validation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